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129"/>
    <p:restoredTop sz="94694"/>
  </p:normalViewPr>
  <p:slideViewPr>
    <p:cSldViewPr snapToGrid="0">
      <p:cViewPr varScale="1">
        <p:scale>
          <a:sx n="121" d="100"/>
          <a:sy n="121" d="100"/>
        </p:scale>
        <p:origin x="39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93B4-00BB-801D-73FD-DD6E79B5ADE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8B72163A-E173-9FD8-DD64-2CAE3CDB36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BF2086AD-C11E-3DB7-D0C7-37376E07EC49}"/>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6E3DD98B-6112-C936-AEE9-FCAC57559E6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A008E3-3521-933D-148A-07EF01A0E3E2}"/>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2500220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117C6-5D04-C1C7-7C38-21FA6A8CEA74}"/>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6C42061B-9C6E-EA9A-C9E5-6E10F9F2DEC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90EBAEFA-1177-FA50-3442-3DD040A5C333}"/>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CFB014AD-C122-BD13-4BE9-A929625C43C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E8429CE-D43B-3487-B463-2A368C5E0DA4}"/>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40198233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4F0E5-CCAD-0961-C9F2-20777F385B73}"/>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B40DED7C-7808-C57F-F535-73A4D8FB83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FE27AEF-0487-067F-E0C3-9D7A258C9F61}"/>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F2C6D6BF-CB9A-0390-C64A-80E1E28D72A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C4355C5-C5BF-D414-7EF1-0B530BD893D6}"/>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29451750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4696F-4C66-83A3-6150-AF343EA0B8E1}"/>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CD32BF78-60C5-1F4E-2C16-A783444E5012}"/>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DF3B165E-A6CC-8C8B-0F2D-4FB1B5F23CAC}"/>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8AB4DE93-39D7-0399-6619-1CA255901252}"/>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6" name="Footer Placeholder 5">
            <a:extLst>
              <a:ext uri="{FF2B5EF4-FFF2-40B4-BE49-F238E27FC236}">
                <a16:creationId xmlns:a16="http://schemas.microsoft.com/office/drawing/2014/main" id="{2EB5EBEA-A4B4-4A35-BA0F-C3AC468EA14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076C4FF-A61D-CD7B-BB8B-25BA52FDA11A}"/>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289356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123BE-6F17-B9A3-9322-5F2CFC033E2B}"/>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5A6AD694-3EFE-6256-1961-63098D0EFB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757DB083-803C-11FD-F1A7-D8042A59DCD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E540AC0-AD83-0A47-D6AF-57C185CF6E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C90B908-0B2F-2E39-A98C-63751C2B9A2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8690E365-DCF8-24C6-C179-E4900432D461}"/>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8" name="Footer Placeholder 7">
            <a:extLst>
              <a:ext uri="{FF2B5EF4-FFF2-40B4-BE49-F238E27FC236}">
                <a16:creationId xmlns:a16="http://schemas.microsoft.com/office/drawing/2014/main" id="{00D4E904-1A96-2801-C59E-41AF652C5527}"/>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70F1B424-9A3E-C73A-4565-373398C7DE7A}"/>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3480923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254C7-8747-18D1-A4E8-457D03BD75C8}"/>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089DA33D-4754-FD8A-4633-1208F342D2D4}"/>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4" name="Footer Placeholder 3">
            <a:extLst>
              <a:ext uri="{FF2B5EF4-FFF2-40B4-BE49-F238E27FC236}">
                <a16:creationId xmlns:a16="http://schemas.microsoft.com/office/drawing/2014/main" id="{FFC1823E-32FF-8E98-4941-1FC8CE91271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D3485A8-D10E-CA3D-0762-BBDF79512E0B}"/>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1085370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769DD4-1430-B986-8350-8CA29DCE5E35}"/>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3" name="Footer Placeholder 2">
            <a:extLst>
              <a:ext uri="{FF2B5EF4-FFF2-40B4-BE49-F238E27FC236}">
                <a16:creationId xmlns:a16="http://schemas.microsoft.com/office/drawing/2014/main" id="{ED791932-BBB6-1311-1A7C-566F7CED3BA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320B7E1-16D5-73E3-B93F-F8A5F71B695A}"/>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25980833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BD793-814E-A707-A982-9978F6A9A08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FBF4B036-6F93-F6FC-9374-D60E02CBA39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09A53BB8-9577-76CC-04C7-F3258FB775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13DE276-5D4E-915B-0EFC-51E7E084E0D4}"/>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6" name="Footer Placeholder 5">
            <a:extLst>
              <a:ext uri="{FF2B5EF4-FFF2-40B4-BE49-F238E27FC236}">
                <a16:creationId xmlns:a16="http://schemas.microsoft.com/office/drawing/2014/main" id="{07D2D5FA-E5B0-4122-4EEF-611DCC38AC1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18DCF07-9E7F-73A1-E884-1E873CE76784}"/>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31542022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8E8C3-7054-6218-5E08-5ED21124A1E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CD34CB04-23E7-8725-44FB-EB4D349EB75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F9763D2-EE33-DB47-4529-B394090CDF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D04FEAE-F13C-8B0B-8CE7-19204C7114D5}"/>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6" name="Footer Placeholder 5">
            <a:extLst>
              <a:ext uri="{FF2B5EF4-FFF2-40B4-BE49-F238E27FC236}">
                <a16:creationId xmlns:a16="http://schemas.microsoft.com/office/drawing/2014/main" id="{47AAC41D-06C5-E1ED-2478-53550726B15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79295C-3904-5BE5-FA3B-2D5D48EB0996}"/>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38946370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C9B08-C3E9-51F9-37D8-C4C78AE0BB6D}"/>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1CB65932-95EB-2B34-906D-F45290DD6D5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AD2BA67C-0438-1D63-C0A0-B8476EDBD8F1}"/>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A213CF55-E201-49F9-10C2-162D83B737C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99BECD7-230D-BA44-C03E-3992BBBA536C}"/>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4016912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273E9CE-86BB-D06F-818A-E7139A17CE75}"/>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D6C4D490-266D-9689-CB73-78035A24472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AC785898-240C-CC6D-839B-A5864D4E0270}"/>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31B4EA40-3893-4005-CE67-9A69BC9DC70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E533BEB-D30A-C33D-59CF-51198AB655A3}"/>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39890815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DEE70B-50D4-9357-533B-07F7818461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5D794E99-B269-AE26-A5ED-BAFB438F8B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0B5651D-F399-8E06-06DD-24CFD66237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7EB43038-041B-941E-24BE-79EBBA38FD1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BC5564A-5C29-F79D-885C-BB4AE8A328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407124A-7CE2-444E-8699-8C1743879548}" type="slidenum">
              <a:rPr lang="en-GB" smtClean="0"/>
              <a:t>‹#›</a:t>
            </a:fld>
            <a:endParaRPr lang="en-GB"/>
          </a:p>
        </p:txBody>
      </p:sp>
    </p:spTree>
    <p:extLst>
      <p:ext uri="{BB962C8B-B14F-4D97-AF65-F5344CB8AC3E}">
        <p14:creationId xmlns:p14="http://schemas.microsoft.com/office/powerpoint/2010/main" val="2480655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E29C015E-859F-2A2E-9685-6EE8583296DD}"/>
              </a:ext>
            </a:extLst>
          </p:cNvPr>
          <p:cNvSpPr txBox="1"/>
          <p:nvPr/>
        </p:nvSpPr>
        <p:spPr>
          <a:xfrm>
            <a:off x="4238846" y="157010"/>
            <a:ext cx="6096000" cy="2031325"/>
          </a:xfrm>
          <a:prstGeom prst="rect">
            <a:avLst/>
          </a:prstGeom>
          <a:noFill/>
        </p:spPr>
        <p:txBody>
          <a:bodyPr wrap="square">
            <a:spAutoFit/>
          </a:bodyPr>
          <a:lstStyle/>
          <a:p>
            <a:pPr algn="just"/>
            <a:r>
              <a:rPr lang="en-GB" b="0" i="1" dirty="0">
                <a:solidFill>
                  <a:srgbClr val="343A40"/>
                </a:solidFill>
                <a:effectLst/>
                <a:latin typeface="Source Sans Pro" panose="020F0502020204030204" pitchFamily="34" charset="0"/>
              </a:rPr>
              <a:t>“Our partnership with EUROCONTROL and the PRC is vital to fostering a joint understanding of the characteristics of both systems and how these relate to operational performance. The continual work on the Brazil-Europe comparison report is an essential enabler for Brazil to take stock of the improvements made within the Brazilian system and understand potential future constraints comparing the Brazilian context to Europe.”</a:t>
            </a:r>
            <a:endParaRPr lang="en-GB" i="1" dirty="0"/>
          </a:p>
        </p:txBody>
      </p:sp>
      <p:sp>
        <p:nvSpPr>
          <p:cNvPr id="9" name="TextBox 8">
            <a:extLst>
              <a:ext uri="{FF2B5EF4-FFF2-40B4-BE49-F238E27FC236}">
                <a16:creationId xmlns:a16="http://schemas.microsoft.com/office/drawing/2014/main" id="{A601B23F-6290-6B5A-DB4E-883AC6F636C8}"/>
              </a:ext>
            </a:extLst>
          </p:cNvPr>
          <p:cNvSpPr txBox="1"/>
          <p:nvPr/>
        </p:nvSpPr>
        <p:spPr>
          <a:xfrm>
            <a:off x="1408043" y="2364078"/>
            <a:ext cx="6097772" cy="646331"/>
          </a:xfrm>
          <a:prstGeom prst="rect">
            <a:avLst/>
          </a:prstGeom>
          <a:noFill/>
        </p:spPr>
        <p:txBody>
          <a:bodyPr wrap="square">
            <a:spAutoFit/>
          </a:bodyPr>
          <a:lstStyle/>
          <a:p>
            <a:pPr algn="l"/>
            <a:r>
              <a:rPr lang="en-GB" b="1" i="0" dirty="0">
                <a:solidFill>
                  <a:srgbClr val="343A40"/>
                </a:solidFill>
                <a:effectLst/>
                <a:latin typeface="Source Sans Pro" panose="020B0503030403020204" pitchFamily="34" charset="0"/>
              </a:rPr>
              <a:t>Brigadier </a:t>
            </a:r>
            <a:r>
              <a:rPr lang="en-GB" b="1" i="0">
                <a:solidFill>
                  <a:srgbClr val="343A40"/>
                </a:solidFill>
                <a:effectLst/>
                <a:latin typeface="Source Sans Pro" panose="020B0503030403020204" pitchFamily="34" charset="0"/>
              </a:rPr>
              <a:t>… Medeiros</a:t>
            </a:r>
            <a:endParaRPr lang="en-GB" b="0" i="0" dirty="0">
              <a:solidFill>
                <a:srgbClr val="343A40"/>
              </a:solidFill>
              <a:effectLst/>
              <a:latin typeface="Source Sans Pro" panose="020B0503030403020204" pitchFamily="34" charset="0"/>
            </a:endParaRPr>
          </a:p>
          <a:p>
            <a:r>
              <a:rPr lang="en-GB" b="0" i="1" dirty="0">
                <a:solidFill>
                  <a:srgbClr val="343A40"/>
                </a:solidFill>
                <a:effectLst/>
                <a:latin typeface="Source Sans Pro" panose="020B0503030403020204" pitchFamily="34" charset="0"/>
              </a:rPr>
              <a:t>Director General of DECEA</a:t>
            </a:r>
            <a:endParaRPr lang="en-GB" b="0" i="0" dirty="0">
              <a:solidFill>
                <a:srgbClr val="343A40"/>
              </a:solidFill>
              <a:effectLst/>
              <a:latin typeface="Source Sans Pro" panose="020B0503030403020204" pitchFamily="34" charset="0"/>
            </a:endParaRPr>
          </a:p>
        </p:txBody>
      </p:sp>
      <p:pic>
        <p:nvPicPr>
          <p:cNvPr id="11" name="Picture 10" descr="A person in a suit and tie&#10;&#10;Description automatically generated">
            <a:extLst>
              <a:ext uri="{FF2B5EF4-FFF2-40B4-BE49-F238E27FC236}">
                <a16:creationId xmlns:a16="http://schemas.microsoft.com/office/drawing/2014/main" id="{732CF16D-7B71-D324-A097-451AEA799CA2}"/>
              </a:ext>
            </a:extLst>
          </p:cNvPr>
          <p:cNvPicPr>
            <a:picLocks noChangeAspect="1"/>
          </p:cNvPicPr>
          <p:nvPr/>
        </p:nvPicPr>
        <p:blipFill>
          <a:blip r:embed="rId2"/>
          <a:stretch>
            <a:fillRect/>
          </a:stretch>
        </p:blipFill>
        <p:spPr>
          <a:xfrm>
            <a:off x="8293101" y="3269512"/>
            <a:ext cx="2041745" cy="2041745"/>
          </a:xfrm>
          <a:prstGeom prst="rect">
            <a:avLst/>
          </a:prstGeom>
        </p:spPr>
      </p:pic>
      <p:sp>
        <p:nvSpPr>
          <p:cNvPr id="13" name="TextBox 12">
            <a:extLst>
              <a:ext uri="{FF2B5EF4-FFF2-40B4-BE49-F238E27FC236}">
                <a16:creationId xmlns:a16="http://schemas.microsoft.com/office/drawing/2014/main" id="{9AEAB23F-4118-0BCC-B674-D5873991FB37}"/>
              </a:ext>
            </a:extLst>
          </p:cNvPr>
          <p:cNvSpPr txBox="1"/>
          <p:nvPr/>
        </p:nvSpPr>
        <p:spPr>
          <a:xfrm>
            <a:off x="1408043" y="3107897"/>
            <a:ext cx="6545110" cy="2585323"/>
          </a:xfrm>
          <a:prstGeom prst="rect">
            <a:avLst/>
          </a:prstGeom>
          <a:noFill/>
        </p:spPr>
        <p:txBody>
          <a:bodyPr wrap="square">
            <a:spAutoFit/>
          </a:bodyPr>
          <a:lstStyle/>
          <a:p>
            <a:pPr algn="just"/>
            <a:r>
              <a:rPr lang="en-GB" b="0" i="1" dirty="0">
                <a:solidFill>
                  <a:srgbClr val="343A40"/>
                </a:solidFill>
                <a:effectLst/>
                <a:latin typeface="Source Sans Pro" panose="020B0503030403020204" pitchFamily="34" charset="0"/>
              </a:rPr>
              <a:t>“This forth edition of the Brazil-Europe comparison </a:t>
            </a:r>
            <a:r>
              <a:rPr lang="en-GB" b="0" i="1" dirty="0">
                <a:solidFill>
                  <a:srgbClr val="343A40"/>
                </a:solidFill>
                <a:effectLst/>
                <a:highlight>
                  <a:srgbClr val="FFFF00"/>
                </a:highlight>
                <a:latin typeface="Source Sans Pro" panose="020B0503030403020204" pitchFamily="34" charset="0"/>
              </a:rPr>
              <a:t>demonstrates the close link between our organisations and the shared desire to provide safe and highly efficient operations in both regions. The close collaboration with DECEA allows for the identification of drivers of performance by understanding similarities and differences in the operational concepts and underlying technological enablers. This is an essential step in working towards a level playing field in both regions and support the wider global performance-based approach to air navigation.”</a:t>
            </a:r>
            <a:endParaRPr lang="en-GB" i="1" dirty="0">
              <a:highlight>
                <a:srgbClr val="FFFF00"/>
              </a:highlight>
            </a:endParaRPr>
          </a:p>
        </p:txBody>
      </p:sp>
      <p:sp>
        <p:nvSpPr>
          <p:cNvPr id="14" name="TextBox 13">
            <a:extLst>
              <a:ext uri="{FF2B5EF4-FFF2-40B4-BE49-F238E27FC236}">
                <a16:creationId xmlns:a16="http://schemas.microsoft.com/office/drawing/2014/main" id="{D8F060B2-8A92-0095-CD3F-F216BD063F36}"/>
              </a:ext>
            </a:extLst>
          </p:cNvPr>
          <p:cNvSpPr txBox="1"/>
          <p:nvPr/>
        </p:nvSpPr>
        <p:spPr>
          <a:xfrm>
            <a:off x="4237074" y="5689782"/>
            <a:ext cx="6097772" cy="646331"/>
          </a:xfrm>
          <a:prstGeom prst="rect">
            <a:avLst/>
          </a:prstGeom>
          <a:noFill/>
        </p:spPr>
        <p:txBody>
          <a:bodyPr wrap="square">
            <a:spAutoFit/>
          </a:bodyPr>
          <a:lstStyle/>
          <a:p>
            <a:pPr algn="r"/>
            <a:r>
              <a:rPr lang="en-GB" b="1" i="0" dirty="0">
                <a:solidFill>
                  <a:srgbClr val="343A40"/>
                </a:solidFill>
                <a:effectLst/>
                <a:latin typeface="Source Sans Pro" panose="020B0503030403020204" pitchFamily="34" charset="0"/>
              </a:rPr>
              <a:t>Dr Peter Whysall</a:t>
            </a:r>
            <a:endParaRPr lang="en-GB" b="0" i="0" dirty="0">
              <a:solidFill>
                <a:srgbClr val="343A40"/>
              </a:solidFill>
              <a:effectLst/>
              <a:latin typeface="Source Sans Pro" panose="020B0503030403020204" pitchFamily="34" charset="0"/>
            </a:endParaRPr>
          </a:p>
          <a:p>
            <a:pPr algn="r"/>
            <a:r>
              <a:rPr lang="en-GB" b="0" i="1" dirty="0">
                <a:solidFill>
                  <a:srgbClr val="343A40"/>
                </a:solidFill>
                <a:effectLst/>
                <a:latin typeface="Source Sans Pro" panose="020B0503030403020204" pitchFamily="34" charset="0"/>
              </a:rPr>
              <a:t>Chairman of the Performance Review Commission</a:t>
            </a:r>
            <a:endParaRPr lang="en-GB" b="0" i="0" dirty="0">
              <a:solidFill>
                <a:srgbClr val="343A40"/>
              </a:solidFill>
              <a:effectLst/>
              <a:latin typeface="Source Sans Pro" panose="020B0503030403020204" pitchFamily="34" charset="0"/>
            </a:endParaRPr>
          </a:p>
        </p:txBody>
      </p:sp>
      <p:pic>
        <p:nvPicPr>
          <p:cNvPr id="4" name="Picture 3">
            <a:extLst>
              <a:ext uri="{FF2B5EF4-FFF2-40B4-BE49-F238E27FC236}">
                <a16:creationId xmlns:a16="http://schemas.microsoft.com/office/drawing/2014/main" id="{3BB3CD07-A559-1585-A8B7-0FBD7A3240E7}"/>
              </a:ext>
            </a:extLst>
          </p:cNvPr>
          <p:cNvPicPr>
            <a:picLocks noChangeAspect="1"/>
          </p:cNvPicPr>
          <p:nvPr/>
        </p:nvPicPr>
        <p:blipFill>
          <a:blip r:embed="rId3"/>
          <a:stretch>
            <a:fillRect/>
          </a:stretch>
        </p:blipFill>
        <p:spPr>
          <a:xfrm>
            <a:off x="1639344" y="101511"/>
            <a:ext cx="2126537" cy="2126537"/>
          </a:xfrm>
          <a:prstGeom prst="rect">
            <a:avLst/>
          </a:prstGeom>
        </p:spPr>
      </p:pic>
    </p:spTree>
    <p:extLst>
      <p:ext uri="{BB962C8B-B14F-4D97-AF65-F5344CB8AC3E}">
        <p14:creationId xmlns:p14="http://schemas.microsoft.com/office/powerpoint/2010/main" val="2397219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AAB1E4B8-DA0A-4EDA-F878-81ECBB307F41}"/>
              </a:ext>
            </a:extLst>
          </p:cNvPr>
          <p:cNvGraphicFramePr>
            <a:graphicFrameLocks noGrp="1"/>
          </p:cNvGraphicFramePr>
          <p:nvPr>
            <p:extLst>
              <p:ext uri="{D42A27DB-BD31-4B8C-83A1-F6EECF244321}">
                <p14:modId xmlns:p14="http://schemas.microsoft.com/office/powerpoint/2010/main" val="1749433441"/>
              </p:ext>
            </p:extLst>
          </p:nvPr>
        </p:nvGraphicFramePr>
        <p:xfrm>
          <a:off x="427512" y="588980"/>
          <a:ext cx="9476509" cy="4841824"/>
        </p:xfrm>
        <a:graphic>
          <a:graphicData uri="http://schemas.openxmlformats.org/drawingml/2006/table">
            <a:tbl>
              <a:tblPr firstRow="1" firstCol="1" bandRow="1">
                <a:tableStyleId>{00A15C55-8517-42AA-B614-E9B94910E393}</a:tableStyleId>
              </a:tblPr>
              <a:tblGrid>
                <a:gridCol w="2275330">
                  <a:extLst>
                    <a:ext uri="{9D8B030D-6E8A-4147-A177-3AD203B41FA5}">
                      <a16:colId xmlns:a16="http://schemas.microsoft.com/office/drawing/2014/main" val="388130766"/>
                    </a:ext>
                  </a:extLst>
                </a:gridCol>
                <a:gridCol w="1198179">
                  <a:extLst>
                    <a:ext uri="{9D8B030D-6E8A-4147-A177-3AD203B41FA5}">
                      <a16:colId xmlns:a16="http://schemas.microsoft.com/office/drawing/2014/main" val="2796321310"/>
                    </a:ext>
                  </a:extLst>
                </a:gridCol>
                <a:gridCol w="1082978">
                  <a:extLst>
                    <a:ext uri="{9D8B030D-6E8A-4147-A177-3AD203B41FA5}">
                      <a16:colId xmlns:a16="http://schemas.microsoft.com/office/drawing/2014/main" val="3298103605"/>
                    </a:ext>
                  </a:extLst>
                </a:gridCol>
                <a:gridCol w="1156044">
                  <a:extLst>
                    <a:ext uri="{9D8B030D-6E8A-4147-A177-3AD203B41FA5}">
                      <a16:colId xmlns:a16="http://schemas.microsoft.com/office/drawing/2014/main" val="3830598105"/>
                    </a:ext>
                  </a:extLst>
                </a:gridCol>
                <a:gridCol w="1161871">
                  <a:extLst>
                    <a:ext uri="{9D8B030D-6E8A-4147-A177-3AD203B41FA5}">
                      <a16:colId xmlns:a16="http://schemas.microsoft.com/office/drawing/2014/main" val="2304746890"/>
                    </a:ext>
                  </a:extLst>
                </a:gridCol>
                <a:gridCol w="1307105">
                  <a:extLst>
                    <a:ext uri="{9D8B030D-6E8A-4147-A177-3AD203B41FA5}">
                      <a16:colId xmlns:a16="http://schemas.microsoft.com/office/drawing/2014/main" val="3467463895"/>
                    </a:ext>
                  </a:extLst>
                </a:gridCol>
                <a:gridCol w="1295002">
                  <a:extLst>
                    <a:ext uri="{9D8B030D-6E8A-4147-A177-3AD203B41FA5}">
                      <a16:colId xmlns:a16="http://schemas.microsoft.com/office/drawing/2014/main" val="2478975321"/>
                    </a:ext>
                  </a:extLst>
                </a:gridCol>
              </a:tblGrid>
              <a:tr h="432782">
                <a:tc>
                  <a:txBody>
                    <a:bodyPr/>
                    <a:lstStyle/>
                    <a:p>
                      <a:pPr algn="l"/>
                      <a:r>
                        <a:rPr lang="en-GB" sz="1400" kern="100" dirty="0">
                          <a:effectLst/>
                        </a:rPr>
                        <a:t>KPA</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r>
                        <a:rPr lang="en-GB" sz="1400" kern="100" dirty="0">
                          <a:effectLst/>
                        </a:rPr>
                        <a:t>Brazil </a:t>
                      </a:r>
                    </a:p>
                    <a:p>
                      <a:pPr algn="ctr"/>
                      <a:r>
                        <a:rPr lang="en-GB" sz="1400" kern="100" dirty="0">
                          <a:effectLst/>
                        </a:rPr>
                        <a:t>2019</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Brazil</a:t>
                      </a:r>
                      <a:endParaRPr lang="en-BE" sz="1400" kern="100" dirty="0">
                        <a:effectLst/>
                      </a:endParaRPr>
                    </a:p>
                    <a:p>
                      <a:pPr algn="ctr"/>
                      <a:r>
                        <a:rPr lang="en-GB" sz="1400" kern="100" dirty="0">
                          <a:effectLst/>
                        </a:rPr>
                        <a:t>2023</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Europe </a:t>
                      </a:r>
                    </a:p>
                    <a:p>
                      <a:pPr algn="ctr"/>
                      <a:r>
                        <a:rPr lang="en-GB" sz="1400" kern="100" dirty="0">
                          <a:effectLst/>
                        </a:rPr>
                        <a:t>2019</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Europe </a:t>
                      </a:r>
                    </a:p>
                    <a:p>
                      <a:pPr algn="ctr"/>
                      <a:r>
                        <a:rPr lang="en-GB" sz="1400" kern="100" dirty="0">
                          <a:effectLst/>
                        </a:rPr>
                        <a:t>2023</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Brazil/Europe</a:t>
                      </a:r>
                    </a:p>
                    <a:p>
                      <a:pPr algn="ctr"/>
                      <a:r>
                        <a:rPr lang="en-GB" sz="1400" kern="100" dirty="0">
                          <a:effectLst/>
                        </a:rPr>
                        <a:t>2019 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Brazil/Europe</a:t>
                      </a:r>
                    </a:p>
                    <a:p>
                      <a:pPr algn="ctr"/>
                      <a:r>
                        <a:rPr lang="en-GB" sz="1400" kern="100" dirty="0">
                          <a:effectLst/>
                        </a:rPr>
                        <a:t>2023 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304143548"/>
                  </a:ext>
                </a:extLst>
              </a:tr>
              <a:tr h="432782">
                <a:tc>
                  <a:txBody>
                    <a:bodyPr/>
                    <a:lstStyle/>
                    <a:p>
                      <a:pPr algn="l"/>
                      <a:r>
                        <a:rPr lang="en-GB" sz="1400" kern="100" dirty="0">
                          <a:effectLst/>
                        </a:rPr>
                        <a:t> geographic area</a:t>
                      </a:r>
                      <a:br>
                        <a:rPr lang="en-GB" sz="1400" kern="100" dirty="0">
                          <a:effectLst/>
                        </a:rPr>
                      </a:br>
                      <a:r>
                        <a:rPr lang="en-GB" sz="1400" kern="100" dirty="0">
                          <a:effectLst/>
                        </a:rPr>
                        <a:t>(non-oceanic, million km</a:t>
                      </a:r>
                      <a:r>
                        <a:rPr lang="en-GB" sz="1400" kern="100" baseline="30000" dirty="0">
                          <a:effectLst/>
                        </a:rPr>
                        <a:t>2</a:t>
                      </a:r>
                      <a:r>
                        <a:rPr lang="en-GB" sz="1400" kern="100" baseline="0" dirty="0">
                          <a:effectLst/>
                        </a:rPr>
                        <a:t>)</a:t>
                      </a:r>
                      <a:r>
                        <a:rPr lang="en-GB" sz="1400" kern="100" dirty="0">
                          <a:effectLst/>
                        </a:rPr>
                        <a:t>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gridSpan="2">
                  <a:txBody>
                    <a:bodyPr/>
                    <a:lstStyle/>
                    <a:p>
                      <a:pPr algn="ctr"/>
                      <a:r>
                        <a:rPr lang="en-GB" sz="1400" kern="100" dirty="0">
                          <a:effectLst/>
                        </a:rPr>
                        <a:t> 8.5 </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tc>
                <a:tc gridSpan="2">
                  <a:txBody>
                    <a:bodyPr/>
                    <a:lstStyle/>
                    <a:p>
                      <a:pPr algn="ctr"/>
                      <a:r>
                        <a:rPr lang="en-GB" sz="1400" kern="100" dirty="0">
                          <a:effectLst/>
                        </a:rPr>
                        <a:t> 11.5 </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nchor="ctr"/>
                </a:tc>
                <a:tc gridSpan="2">
                  <a:txBody>
                    <a:bodyPr/>
                    <a:lstStyle/>
                    <a:p>
                      <a:pPr algn="ctr"/>
                      <a:r>
                        <a:rPr lang="en-GB" sz="1400" kern="100" dirty="0">
                          <a:effectLst/>
                        </a:rPr>
                        <a:t>74%</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nchor="ctr"/>
                </a:tc>
                <a:extLst>
                  <a:ext uri="{0D108BD9-81ED-4DB2-BD59-A6C34878D82A}">
                    <a16:rowId xmlns:a16="http://schemas.microsoft.com/office/drawing/2014/main" val="2168733589"/>
                  </a:ext>
                </a:extLst>
              </a:tr>
              <a:tr h="432782">
                <a:tc>
                  <a:txBody>
                    <a:bodyPr/>
                    <a:lstStyle/>
                    <a:p>
                      <a:pPr algn="l"/>
                      <a:r>
                        <a:rPr lang="en-GB" sz="1400" kern="100" dirty="0">
                          <a:effectLst/>
                        </a:rPr>
                        <a:t>number of </a:t>
                      </a:r>
                      <a:r>
                        <a:rPr lang="en-GB" sz="1400" kern="100" dirty="0" err="1">
                          <a:effectLst/>
                        </a:rPr>
                        <a:t>en</a:t>
                      </a:r>
                      <a:r>
                        <a:rPr lang="en-GB" sz="1400" kern="100" dirty="0">
                          <a:effectLst/>
                        </a:rPr>
                        <a:t>-route</a:t>
                      </a:r>
                      <a:br>
                        <a:rPr lang="en-GB" sz="1400" kern="100" dirty="0">
                          <a:effectLst/>
                        </a:rPr>
                      </a:br>
                      <a:r>
                        <a:rPr lang="en-GB" sz="1400" kern="100" dirty="0">
                          <a:effectLst/>
                        </a:rPr>
                        <a:t>ANSPs</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gridSpan="2">
                  <a:txBody>
                    <a:bodyPr/>
                    <a:lstStyle/>
                    <a:p>
                      <a:pPr algn="ctr"/>
                      <a:r>
                        <a:rPr lang="en-GB" sz="1400" kern="100" dirty="0">
                          <a:effectLst/>
                        </a:rPr>
                        <a:t>1</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tc>
                <a:tc gridSpan="2">
                  <a:txBody>
                    <a:bodyPr/>
                    <a:lstStyle/>
                    <a:p>
                      <a:pPr algn="ctr"/>
                      <a:r>
                        <a:rPr lang="en-GB" sz="1400" kern="100" dirty="0">
                          <a:effectLst/>
                        </a:rPr>
                        <a:t>36</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nchor="ctr"/>
                </a:tc>
                <a:tc gridSpan="2">
                  <a:txBody>
                    <a:bodyPr/>
                    <a:lstStyle/>
                    <a:p>
                      <a:pPr algn="ctr"/>
                      <a:r>
                        <a:rPr lang="en-GB" sz="1400" kern="100" dirty="0">
                          <a:effectLst/>
                          <a:latin typeface="Aptos" panose="020B0004020202020204" pitchFamily="34" charset="0"/>
                          <a:cs typeface="Times New Roman" panose="02020603050405020304" pitchFamily="18" charset="0"/>
                        </a:rPr>
                        <a:t>single provider vs multiple</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nchor="ctr"/>
                </a:tc>
                <a:extLst>
                  <a:ext uri="{0D108BD9-81ED-4DB2-BD59-A6C34878D82A}">
                    <a16:rowId xmlns:a16="http://schemas.microsoft.com/office/drawing/2014/main" val="2905947655"/>
                  </a:ext>
                </a:extLst>
              </a:tr>
              <a:tr h="432782">
                <a:tc>
                  <a:txBody>
                    <a:bodyPr/>
                    <a:lstStyle/>
                    <a:p>
                      <a:pPr algn="l"/>
                      <a:r>
                        <a:rPr lang="en-GB" sz="1400" kern="100" dirty="0">
                          <a:effectLst/>
                        </a:rPr>
                        <a:t>number of TWR</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r>
                        <a:rPr lang="en-GB" sz="1400" kern="100" dirty="0">
                          <a:effectLst/>
                        </a:rPr>
                        <a:t>59 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57 + </a:t>
                      </a:r>
                      <a:br>
                        <a:rPr lang="en-GB" sz="1400" kern="100" dirty="0">
                          <a:effectLst/>
                        </a:rPr>
                      </a:br>
                      <a:r>
                        <a:rPr lang="en-GB" sz="1400" kern="100" dirty="0">
                          <a:effectLst/>
                        </a:rPr>
                        <a:t>1 DTWR</a:t>
                      </a:r>
                      <a:r>
                        <a:rPr lang="en-GB" sz="1400" kern="100" baseline="30000" dirty="0">
                          <a:effectLst/>
                        </a:rPr>
                        <a:t>(2)</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400+</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rowSpan="3" gridSpan="2">
                  <a:txBody>
                    <a:bodyPr/>
                    <a:lstStyle/>
                    <a:p>
                      <a:pPr algn="ctr"/>
                      <a:r>
                        <a:rPr lang="en-GB" sz="1400" kern="100" dirty="0">
                          <a:effectLst/>
                          <a:latin typeface="Aptos" panose="020B0004020202020204" pitchFamily="34" charset="0"/>
                          <a:cs typeface="Times New Roman" panose="02020603050405020304" pitchFamily="18" charset="0"/>
                        </a:rPr>
                        <a:t>ATS f</a:t>
                      </a:r>
                      <a:r>
                        <a:rPr lang="en-BE" sz="1400" kern="100" dirty="0">
                          <a:effectLst/>
                          <a:latin typeface="Aptos" panose="020B0004020202020204" pitchFamily="34" charset="0"/>
                          <a:cs typeface="Times New Roman" panose="02020603050405020304" pitchFamily="18" charset="0"/>
                        </a:rPr>
                        <a:t>acilities </a:t>
                      </a:r>
                    </a:p>
                    <a:p>
                      <a:pPr algn="ctr"/>
                      <a:r>
                        <a:rPr lang="en-BE" sz="1400" kern="100" dirty="0">
                          <a:effectLst/>
                          <a:latin typeface="Aptos" panose="020B0004020202020204" pitchFamily="34" charset="0"/>
                          <a:cs typeface="Times New Roman" panose="02020603050405020304" pitchFamily="18" charset="0"/>
                        </a:rPr>
                        <a:t>mostly unchanged</a:t>
                      </a:r>
                    </a:p>
                  </a:txBody>
                  <a:tcPr marL="68580" marR="68580" marT="0" marB="0" anchor="ctr"/>
                </a:tc>
                <a:tc rowSpan="3" hMerge="1">
                  <a:txBody>
                    <a:bodyPr/>
                    <a:lstStyle/>
                    <a:p>
                      <a:endParaRPr/>
                    </a:p>
                  </a:txBody>
                  <a:tcPr marL="68580" marR="68580" marT="0" marB="0" anchor="ctr"/>
                </a:tc>
                <a:extLst>
                  <a:ext uri="{0D108BD9-81ED-4DB2-BD59-A6C34878D82A}">
                    <a16:rowId xmlns:a16="http://schemas.microsoft.com/office/drawing/2014/main" val="27224785"/>
                  </a:ext>
                </a:extLst>
              </a:tr>
              <a:tr h="432782">
                <a:tc>
                  <a:txBody>
                    <a:bodyPr/>
                    <a:lstStyle/>
                    <a:p>
                      <a:pPr algn="l"/>
                      <a:r>
                        <a:rPr lang="en-GB" sz="1400" kern="100" dirty="0">
                          <a:effectLst/>
                        </a:rPr>
                        <a:t>number of APP</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r>
                        <a:rPr lang="en-GB" sz="1400" kern="100" dirty="0">
                          <a:effectLst/>
                        </a:rPr>
                        <a:t> 43</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41</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19 (stand-alone)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19 (stand-alone)</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gridSpan="2" vMerge="1">
                  <a:txBody>
                    <a:bodyPr/>
                    <a:lstStyle/>
                    <a:p>
                      <a:endParaRPr/>
                    </a:p>
                  </a:txBody>
                  <a:tcPr marL="68580" marR="68580" marT="0" marB="0" anchor="ctr"/>
                </a:tc>
                <a:tc hMerge="1" vMerge="1">
                  <a:txBody>
                    <a:bodyPr/>
                    <a:lstStyle/>
                    <a:p>
                      <a:endParaRPr/>
                    </a:p>
                  </a:txBody>
                  <a:tcPr marL="68580" marR="68580" marT="0" marB="0" anchor="ctr"/>
                </a:tc>
                <a:extLst>
                  <a:ext uri="{0D108BD9-81ED-4DB2-BD59-A6C34878D82A}">
                    <a16:rowId xmlns:a16="http://schemas.microsoft.com/office/drawing/2014/main" val="2047060381"/>
                  </a:ext>
                </a:extLst>
              </a:tr>
              <a:tr h="393643">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n</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umber of ACC</a:t>
                      </a:r>
                    </a:p>
                  </a:txBody>
                  <a:tcPr marL="68580" marR="68580" marT="0" marB="0"/>
                </a:tc>
                <a:tc gridSpan="2">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a:t>
                      </a: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58</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58</a:t>
                      </a:r>
                    </a:p>
                  </a:txBody>
                  <a:tcPr marL="68580" marR="68580" marT="0" marB="0" anchor="ctr"/>
                </a:tc>
                <a:tc gridSpan="2" v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v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581900928"/>
                  </a:ext>
                </a:extLst>
              </a:tr>
              <a:tr h="393643">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n</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umber of ATCOs in OPS</a:t>
                      </a:r>
                    </a:p>
                  </a:txBody>
                  <a:tcPr marL="68580" marR="68580" marT="0" marB="0"/>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3 126</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3 677</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17 563</a:t>
                      </a:r>
                    </a:p>
                  </a:txBody>
                  <a:tcPr marL="68580" marR="68580" marT="0" marB="0" anchor="ctr"/>
                </a:tc>
                <a:tc>
                  <a:txBody>
                    <a:bodyPr/>
                    <a:lstStyle/>
                    <a:p>
                      <a:pPr algn="ctr"/>
                      <a:r>
                        <a:rPr lang="en-GB" sz="1400" kern="100" dirty="0">
                          <a:effectLst/>
                          <a:latin typeface="Aptos" panose="020B0004020202020204" pitchFamily="34" charset="0"/>
                          <a:ea typeface="Aptos" panose="020B0004020202020204" pitchFamily="34" charset="0"/>
                          <a:cs typeface="Times New Roman" panose="02020603050405020304" pitchFamily="18" charset="0"/>
                        </a:rPr>
                        <a:t>16552</a:t>
                      </a:r>
                      <a:r>
                        <a:rPr lang="en-BE" sz="1400" kern="100" baseline="30000" dirty="0">
                          <a:effectLst/>
                          <a:latin typeface="Aptos" panose="020B0004020202020204" pitchFamily="34" charset="0"/>
                          <a:ea typeface="Aptos" panose="020B0004020202020204" pitchFamily="34" charset="0"/>
                          <a:cs typeface="Times New Roman" panose="02020603050405020304" pitchFamily="18" charset="0"/>
                        </a:rPr>
                        <a:t>(1)</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17.8%</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22.2%</a:t>
                      </a:r>
                    </a:p>
                  </a:txBody>
                  <a:tcPr marL="68580" marR="68580" marT="0" marB="0" anchor="ctr"/>
                </a:tc>
                <a:extLst>
                  <a:ext uri="{0D108BD9-81ED-4DB2-BD59-A6C34878D82A}">
                    <a16:rowId xmlns:a16="http://schemas.microsoft.com/office/drawing/2014/main" val="2502118196"/>
                  </a:ext>
                </a:extLst>
              </a:tr>
              <a:tr h="393643">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c</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ontrolled flights</a:t>
                      </a: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BE" sz="1400" kern="100" dirty="0">
                          <a:effectLst/>
                          <a:latin typeface="Aptos" panose="020B0004020202020204" pitchFamily="34" charset="0"/>
                          <a:ea typeface="Aptos" panose="020B0004020202020204" pitchFamily="34" charset="0"/>
                          <a:cs typeface="Times New Roman" panose="02020603050405020304" pitchFamily="18" charset="0"/>
                        </a:rPr>
                        <a:t>1 594 442</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1 801 109</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10 995 092</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9 237 693</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14.5%</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19.5%</a:t>
                      </a:r>
                    </a:p>
                  </a:txBody>
                  <a:tcPr marL="68580" marR="68580" marT="0" marB="0" anchor="ctr"/>
                </a:tc>
                <a:extLst>
                  <a:ext uri="{0D108BD9-81ED-4DB2-BD59-A6C34878D82A}">
                    <a16:rowId xmlns:a16="http://schemas.microsoft.com/office/drawing/2014/main" val="1458423313"/>
                  </a:ext>
                </a:extLst>
              </a:tr>
              <a:tr h="393643">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f</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lights/ATCO</a:t>
                      </a:r>
                    </a:p>
                  </a:txBody>
                  <a:tcPr marL="68580" marR="68580" marT="0" marB="0"/>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510</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490</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626</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558</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81.5%</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87.8%</a:t>
                      </a:r>
                    </a:p>
                  </a:txBody>
                  <a:tcPr marL="68580" marR="68580" marT="0" marB="0" anchor="ctr"/>
                </a:tc>
                <a:extLst>
                  <a:ext uri="{0D108BD9-81ED-4DB2-BD59-A6C34878D82A}">
                    <a16:rowId xmlns:a16="http://schemas.microsoft.com/office/drawing/2014/main" val="2372469915"/>
                  </a:ext>
                </a:extLst>
              </a:tr>
              <a:tr h="432782">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t</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raffic density (non-oceanic, flights/km</a:t>
                      </a:r>
                      <a:r>
                        <a:rPr lang="en-BE" sz="1400" kern="100" baseline="30000" dirty="0">
                          <a:effectLst/>
                          <a:latin typeface="Aptos" panose="020B0004020202020204" pitchFamily="34" charset="0"/>
                          <a:ea typeface="Aptos" panose="020B0004020202020204" pitchFamily="34" charset="0"/>
                          <a:cs typeface="Times New Roman" panose="02020603050405020304" pitchFamily="18" charset="0"/>
                        </a:rPr>
                        <a:t>2</a:t>
                      </a:r>
                      <a:r>
                        <a:rPr lang="en-BE" sz="1400" kern="100" baseline="0" dirty="0">
                          <a:effectLst/>
                          <a:latin typeface="Aptos" panose="020B0004020202020204" pitchFamily="34" charset="0"/>
                          <a:ea typeface="Aptos" panose="020B0004020202020204" pitchFamily="34" charset="0"/>
                          <a:cs typeface="Times New Roman" panose="02020603050405020304" pitchFamily="18" charset="0"/>
                        </a:rPr>
                        <a:t>)</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0.187</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0.212</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0.956</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0.80</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20%</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26.5%</a:t>
                      </a:r>
                    </a:p>
                  </a:txBody>
                  <a:tcPr marL="68580" marR="68580" marT="0" marB="0" anchor="ctr"/>
                </a:tc>
                <a:extLst>
                  <a:ext uri="{0D108BD9-81ED-4DB2-BD59-A6C34878D82A}">
                    <a16:rowId xmlns:a16="http://schemas.microsoft.com/office/drawing/2014/main" val="1299329876"/>
                  </a:ext>
                </a:extLst>
              </a:tr>
              <a:tr h="393643">
                <a:tc>
                  <a:txBody>
                    <a:bodyPr/>
                    <a:lstStyle/>
                    <a:p>
                      <a:pPr algn="l"/>
                      <a:endParaRPr lang="en-BE"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gridSpan="6">
                  <a:txBody>
                    <a:bodyPr/>
                    <a:lstStyle/>
                    <a:p>
                      <a:pPr marL="228600" indent="-228600" algn="r">
                        <a:buAutoNum type="arabicParenBoth"/>
                      </a:pPr>
                      <a:r>
                        <a:rPr lang="en-BE" sz="1100" kern="100" dirty="0">
                          <a:effectLst/>
                          <a:latin typeface="Aptos" panose="020B0004020202020204" pitchFamily="34" charset="0"/>
                          <a:ea typeface="Aptos" panose="020B0004020202020204" pitchFamily="34" charset="0"/>
                          <a:cs typeface="Times New Roman" panose="02020603050405020304" pitchFamily="18" charset="0"/>
                        </a:rPr>
                        <a:t>c.f. ACE report; </a:t>
                      </a:r>
                      <a:br>
                        <a:rPr lang="en-BE" sz="1100" kern="100" dirty="0">
                          <a:effectLst/>
                          <a:latin typeface="Aptos" panose="020B0004020202020204" pitchFamily="34" charset="0"/>
                          <a:ea typeface="Aptos" panose="020B0004020202020204" pitchFamily="34" charset="0"/>
                          <a:cs typeface="Times New Roman" panose="02020603050405020304" pitchFamily="18" charset="0"/>
                        </a:rPr>
                      </a:br>
                      <a:r>
                        <a:rPr lang="en-BE" sz="1100" kern="100" dirty="0">
                          <a:effectLst/>
                          <a:latin typeface="Aptos" panose="020B0004020202020204" pitchFamily="34" charset="0"/>
                          <a:ea typeface="Aptos" panose="020B0004020202020204" pitchFamily="34" charset="0"/>
                          <a:cs typeface="Times New Roman" panose="02020603050405020304" pitchFamily="18" charset="0"/>
                        </a:rPr>
                        <a:t>further </a:t>
                      </a:r>
                      <a:r>
                        <a:rPr lang="en-GB" sz="1100" dirty="0"/>
                        <a:t>staff and facility numbers refer to EUROCONTROL States, excluding Georgia, Ukraine, Canary Islands and Oceanic areas. European staff and facility numbers refer to 2021 which is the latest year available.</a:t>
                      </a:r>
                    </a:p>
                    <a:p>
                      <a:pPr marL="228600" indent="-228600" algn="r">
                        <a:buAutoNum type="arabicParenBoth"/>
                      </a:pPr>
                      <a:r>
                        <a:rPr lang="en-GB" sz="1100" kern="100" dirty="0">
                          <a:effectLst/>
                          <a:latin typeface="Aptos" panose="020B0004020202020204" pitchFamily="34" charset="0"/>
                          <a:ea typeface="Aptos" panose="020B0004020202020204" pitchFamily="34" charset="0"/>
                          <a:cs typeface="Times New Roman" panose="02020603050405020304" pitchFamily="18" charset="0"/>
                        </a:rPr>
                        <a:t>DTWR: DECEA has deployed a digital TWR</a:t>
                      </a:r>
                      <a:endParaRPr lang="en-BE"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954535009"/>
                  </a:ext>
                </a:extLst>
              </a:tr>
            </a:tbl>
          </a:graphicData>
        </a:graphic>
      </p:graphicFrame>
    </p:spTree>
    <p:extLst>
      <p:ext uri="{BB962C8B-B14F-4D97-AF65-F5344CB8AC3E}">
        <p14:creationId xmlns:p14="http://schemas.microsoft.com/office/powerpoint/2010/main" val="2724684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d60f3b8-f236-4830-aecc-da0a7fc54679}" enabled="1" method="Standard" siteId="{76f33c20-5979-4408-adf7-8b3c4be95e52}" contentBits="0" removed="0"/>
</clbl:labelList>
</file>

<file path=docProps/app.xml><?xml version="1.0" encoding="utf-8"?>
<Properties xmlns="http://schemas.openxmlformats.org/officeDocument/2006/extended-properties" xmlns:vt="http://schemas.openxmlformats.org/officeDocument/2006/docPropsVTypes">
  <TotalTime>427</TotalTime>
  <Words>375</Words>
  <Application>Microsoft Macintosh PowerPoint</Application>
  <PresentationFormat>Widescreen</PresentationFormat>
  <Paragraphs>73</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Aptos</vt:lpstr>
      <vt:lpstr>Aptos Display</vt:lpstr>
      <vt:lpstr>Arial</vt:lpstr>
      <vt:lpstr>Source Sans Pro</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KOELLE Rainer</dc:creator>
  <cp:lastModifiedBy>KOELLE Rainer</cp:lastModifiedBy>
  <cp:revision>5</cp:revision>
  <dcterms:created xsi:type="dcterms:W3CDTF">2024-03-04T14:40:37Z</dcterms:created>
  <dcterms:modified xsi:type="dcterms:W3CDTF">2025-04-25T06:58:52Z</dcterms:modified>
</cp:coreProperties>
</file>